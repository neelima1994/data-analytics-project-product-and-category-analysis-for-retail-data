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2" r:id="rId4"/>
    <p:sldId id="265" r:id="rId5"/>
    <p:sldId id="258" r:id="rId6"/>
    <p:sldId id="264" r:id="rId7"/>
    <p:sldId id="259" r:id="rId8"/>
    <p:sldId id="263" r:id="rId9"/>
    <p:sldId id="260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378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95FAD54-EC69-4127-8713-B212DEA2AFEF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782C446-D94F-4BBD-A72A-E36210A8A1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5FAD54-EC69-4127-8713-B212DEA2AFEF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782C446-D94F-4BBD-A72A-E36210A8A12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5FAD54-EC69-4127-8713-B212DEA2AFEF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782C446-D94F-4BBD-A72A-E36210A8A12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5FAD54-EC69-4127-8713-B212DEA2AFEF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782C446-D94F-4BBD-A72A-E36210A8A12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5FAD54-EC69-4127-8713-B212DEA2AFEF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782C446-D94F-4BBD-A72A-E36210A8A126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5FAD54-EC69-4127-8713-B212DEA2AFEF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782C446-D94F-4BBD-A72A-E36210A8A126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5FAD54-EC69-4127-8713-B212DEA2AFEF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782C446-D94F-4BBD-A72A-E36210A8A1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295FAD54-EC69-4127-8713-B212DEA2AFEF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782C446-D94F-4BBD-A72A-E36210A8A126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95FAD54-EC69-4127-8713-B212DEA2AFEF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782C446-D94F-4BBD-A72A-E36210A8A126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5FAD54-EC69-4127-8713-B212DEA2AFEF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782C446-D94F-4BBD-A72A-E36210A8A1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5FAD54-EC69-4127-8713-B212DEA2AFEF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782C446-D94F-4BBD-A72A-E36210A8A12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95FAD54-EC69-4127-8713-B212DEA2AFEF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F782C446-D94F-4BBD-A72A-E36210A8A12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  <a:t> </a:t>
            </a:r>
            <a:r>
              <a:rPr lang="en-GB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  <a:t>   DATA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  <a:t>ANALYTIC PROJECT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</a:b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-1188640" y="2708275"/>
            <a:ext cx="10332641" cy="20888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 smtClean="0">
                <a:solidFill>
                  <a:schemeClr val="tx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  <a:t>           Product and Category Analysis for Retail Data</a:t>
            </a:r>
          </a:p>
          <a:p>
            <a:pPr marL="0" indent="0" algn="ctr">
              <a:buNone/>
            </a:pPr>
            <a:r>
              <a:rPr lang="en-GB" sz="2400" i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itchFamily="18" charset="0"/>
              </a:rPr>
              <a:t>Neelima  Joshi</a:t>
            </a:r>
          </a:p>
          <a:p>
            <a:pPr marL="0" indent="0" algn="ctr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6884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476250"/>
            <a:ext cx="8892480" cy="6193110"/>
          </a:xfrm>
        </p:spPr>
        <p:txBody>
          <a:bodyPr/>
          <a:lstStyle/>
          <a:p>
            <a:pPr marL="0" indent="0">
              <a:buNone/>
            </a:pPr>
            <a:endParaRPr lang="en-GB" b="1" dirty="0" smtClean="0">
              <a:latin typeface="Cambria Math" pitchFamily="18" charset="0"/>
              <a:ea typeface="Cambria Math" pitchFamily="18" charset="0"/>
            </a:endParaRPr>
          </a:p>
          <a:p>
            <a:pPr marL="0" indent="0">
              <a:buNone/>
            </a:pPr>
            <a:r>
              <a:rPr lang="en-GB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  <a:t>Overview</a:t>
            </a:r>
            <a:r>
              <a:rPr lang="en-GB" sz="2800" b="1" dirty="0" smtClean="0">
                <a:latin typeface="Calisto MT" pitchFamily="18" charset="0"/>
              </a:rPr>
              <a:t>:</a:t>
            </a:r>
            <a:r>
              <a:rPr lang="en-GB" sz="2800" dirty="0" smtClean="0">
                <a:latin typeface="Calisto MT" pitchFamily="18" charset="0"/>
              </a:rPr>
              <a:t> </a:t>
            </a:r>
            <a:r>
              <a:rPr lang="en-GB" sz="2400" dirty="0" smtClean="0">
                <a:latin typeface="Calisto MT" pitchFamily="18" charset="0"/>
              </a:rPr>
              <a:t>Analyze product data to provide insights into     product pricing, reviews, and stock management.</a:t>
            </a:r>
          </a:p>
          <a:p>
            <a:pPr marL="0" indent="0">
              <a:buNone/>
            </a:pPr>
            <a:endParaRPr lang="en-GB" sz="2400" dirty="0" smtClean="0">
              <a:latin typeface="Calisto MT" pitchFamily="18" charset="0"/>
            </a:endParaRPr>
          </a:p>
          <a:p>
            <a:pPr marL="0" indent="0">
              <a:buNone/>
            </a:pPr>
            <a:r>
              <a:rPr lang="en-GB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  <a:t>Goal</a:t>
            </a:r>
            <a:r>
              <a:rPr lang="en-GB" sz="2800" b="1" dirty="0" smtClean="0">
                <a:latin typeface="Calisto MT" pitchFamily="18" charset="0"/>
              </a:rPr>
              <a:t>:</a:t>
            </a:r>
            <a:r>
              <a:rPr lang="en-GB" sz="2800" dirty="0" smtClean="0">
                <a:latin typeface="Calisto MT" pitchFamily="18" charset="0"/>
              </a:rPr>
              <a:t> </a:t>
            </a:r>
            <a:r>
              <a:rPr lang="en-GB" sz="2400" dirty="0" smtClean="0">
                <a:latin typeface="Calisto MT" pitchFamily="18" charset="0"/>
              </a:rPr>
              <a:t>Improve business operations and customer satisfaction.</a:t>
            </a:r>
          </a:p>
          <a:p>
            <a:pPr marL="0" indent="0">
              <a:buNone/>
            </a:pPr>
            <a:endParaRPr lang="en-GB" sz="2400" dirty="0" smtClean="0">
              <a:latin typeface="Calisto MT" pitchFamily="18" charset="0"/>
            </a:endParaRPr>
          </a:p>
          <a:p>
            <a:pPr marL="0" indent="0">
              <a:buNone/>
            </a:pPr>
            <a:r>
              <a:rPr lang="en-GB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  <a:t>Dataset</a:t>
            </a:r>
            <a:r>
              <a:rPr lang="en-GB" sz="2800" b="1" dirty="0" smtClean="0">
                <a:latin typeface="Calisto MT" pitchFamily="18" charset="0"/>
              </a:rPr>
              <a:t>:</a:t>
            </a:r>
            <a:r>
              <a:rPr lang="en-GB" sz="2800" dirty="0" smtClean="0">
                <a:latin typeface="Calisto MT" pitchFamily="18" charset="0"/>
              </a:rPr>
              <a:t> </a:t>
            </a:r>
            <a:r>
              <a:rPr lang="en-GB" sz="2400" dirty="0" smtClean="0">
                <a:latin typeface="Calisto MT" pitchFamily="18" charset="0"/>
              </a:rPr>
              <a:t>A retail company's product catalog with attributes like price, stock, reviews, supplier, and return policy.</a:t>
            </a:r>
          </a:p>
          <a:p>
            <a:pPr marL="0" indent="0">
              <a:buNone/>
            </a:pPr>
            <a:endParaRPr lang="en-IN" dirty="0">
              <a:latin typeface="Calisto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06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268760"/>
            <a:ext cx="9036496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  <a:t>Data Overview &amp; Key Attributes</a:t>
            </a:r>
          </a:p>
          <a:p>
            <a:endParaRPr lang="en-GB" sz="3200" dirty="0" smtClean="0"/>
          </a:p>
          <a:p>
            <a:r>
              <a:rPr lang="en-GB" b="1" u="sng" dirty="0">
                <a:latin typeface="Calisto MT" pitchFamily="18" charset="0"/>
              </a:rPr>
              <a:t>Dataset </a:t>
            </a:r>
            <a:r>
              <a:rPr lang="en-GB" b="1" u="sng" dirty="0" smtClean="0">
                <a:latin typeface="Calisto MT" pitchFamily="18" charset="0"/>
              </a:rPr>
              <a:t>Overview:</a:t>
            </a:r>
            <a:endParaRPr lang="en-GB" u="sng" dirty="0">
              <a:latin typeface="Calisto MT" pitchFamily="18" charset="0"/>
            </a:endParaRPr>
          </a:p>
          <a:p>
            <a:r>
              <a:rPr lang="en-GB" b="1" dirty="0" smtClean="0">
                <a:latin typeface="Calisto MT" pitchFamily="18" charset="0"/>
              </a:rPr>
              <a:t>Records:</a:t>
            </a:r>
            <a:r>
              <a:rPr lang="en-GB" dirty="0" smtClean="0">
                <a:latin typeface="Calisto MT" pitchFamily="18" charset="0"/>
              </a:rPr>
              <a:t> 5,000</a:t>
            </a:r>
          </a:p>
          <a:p>
            <a:r>
              <a:rPr lang="en-GB" b="1" dirty="0" smtClean="0">
                <a:latin typeface="Calisto MT" pitchFamily="18" charset="0"/>
              </a:rPr>
              <a:t>Columns:</a:t>
            </a:r>
            <a:r>
              <a:rPr lang="en-GB" dirty="0" smtClean="0">
                <a:latin typeface="Calisto MT" pitchFamily="18" charset="0"/>
              </a:rPr>
              <a:t> 15</a:t>
            </a:r>
          </a:p>
          <a:p>
            <a:r>
              <a:rPr lang="en-GB" b="1" dirty="0" smtClean="0">
                <a:latin typeface="Calisto MT" pitchFamily="18" charset="0"/>
              </a:rPr>
              <a:t>Categories:</a:t>
            </a:r>
            <a:r>
              <a:rPr lang="en-GB" dirty="0" smtClean="0">
                <a:latin typeface="Calisto MT" pitchFamily="18" charset="0"/>
              </a:rPr>
              <a:t> 3 unique product categories</a:t>
            </a:r>
          </a:p>
          <a:p>
            <a:r>
              <a:rPr lang="en-GB" b="1" dirty="0" smtClean="0">
                <a:latin typeface="Calisto MT" pitchFamily="18" charset="0"/>
              </a:rPr>
              <a:t>Warehouses:</a:t>
            </a:r>
            <a:r>
              <a:rPr lang="en-GB" dirty="0" smtClean="0">
                <a:latin typeface="Calisto MT" pitchFamily="18" charset="0"/>
              </a:rPr>
              <a:t> 3 unique warehouses</a:t>
            </a:r>
          </a:p>
          <a:p>
            <a:r>
              <a:rPr lang="en-GB" b="1" dirty="0" smtClean="0">
                <a:latin typeface="Calisto MT" pitchFamily="18" charset="0"/>
              </a:rPr>
              <a:t>Duplicates:</a:t>
            </a:r>
            <a:r>
              <a:rPr lang="en-GB" dirty="0" smtClean="0">
                <a:latin typeface="Calisto MT" pitchFamily="18" charset="0"/>
              </a:rPr>
              <a:t> None based on </a:t>
            </a:r>
            <a:r>
              <a:rPr lang="en-GB" i="1" dirty="0" smtClean="0">
                <a:latin typeface="Calisto MT" pitchFamily="18" charset="0"/>
              </a:rPr>
              <a:t>Product ID</a:t>
            </a:r>
            <a:endParaRPr lang="en-GB" dirty="0" smtClean="0">
              <a:latin typeface="Calisto MT" pitchFamily="18" charset="0"/>
            </a:endParaRPr>
          </a:p>
          <a:p>
            <a:r>
              <a:rPr lang="en-GB" b="1" dirty="0" smtClean="0">
                <a:latin typeface="Calisto MT" pitchFamily="18" charset="0"/>
              </a:rPr>
              <a:t>Missing Values:</a:t>
            </a:r>
            <a:r>
              <a:rPr lang="en-GB" dirty="0" smtClean="0">
                <a:latin typeface="Calisto MT" pitchFamily="18" charset="0"/>
              </a:rPr>
              <a:t> None in any column</a:t>
            </a:r>
          </a:p>
          <a:p>
            <a:endParaRPr lang="en-GB" dirty="0" smtClean="0">
              <a:latin typeface="Calisto MT" pitchFamily="18" charset="0"/>
            </a:endParaRPr>
          </a:p>
          <a:p>
            <a:r>
              <a:rPr lang="en-GB" b="1" u="sng" dirty="0" smtClean="0">
                <a:latin typeface="Calisto MT" pitchFamily="18" charset="0"/>
              </a:rPr>
              <a:t>Key Attributes Tracked</a:t>
            </a:r>
            <a:r>
              <a:rPr lang="en-GB" b="1" dirty="0" smtClean="0">
                <a:latin typeface="Calisto MT" pitchFamily="18" charset="0"/>
              </a:rPr>
              <a:t>:</a:t>
            </a:r>
            <a:r>
              <a:rPr lang="en-GB" dirty="0" smtClean="0">
                <a:latin typeface="Calisto MT" pitchFamily="18" charset="0"/>
              </a:rPr>
              <a:t> Price, Stock, Reviews, Supplier, Return policy</a:t>
            </a:r>
          </a:p>
          <a:p>
            <a:endParaRPr lang="en-GB" sz="2800" dirty="0">
              <a:latin typeface="Calisto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54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4102"/>
            <a:ext cx="9144000" cy="304979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000" u="sng" dirty="0" smtClean="0">
                <a:solidFill>
                  <a:srgbClr val="FF0000"/>
                </a:solidFill>
                <a:latin typeface="Calisto MT" pitchFamily="18" charset="0"/>
              </a:rPr>
              <a:t>Data Layout</a:t>
            </a:r>
            <a:endParaRPr lang="en-IN" sz="2000" u="sng" dirty="0">
              <a:solidFill>
                <a:srgbClr val="FF0000"/>
              </a:solidFill>
              <a:latin typeface="Calisto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00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GB" sz="1900" b="1" dirty="0" smtClean="0">
                <a:latin typeface="Calisto MT" pitchFamily="18" charset="0"/>
              </a:rPr>
              <a:t>1. </a:t>
            </a:r>
            <a:r>
              <a:rPr lang="en-GB" sz="1900" b="1" dirty="0">
                <a:latin typeface="Calisto MT" pitchFamily="18" charset="0"/>
              </a:rPr>
              <a:t>Premium Products per Category:</a:t>
            </a:r>
          </a:p>
          <a:p>
            <a:pPr marL="109728" indent="0">
              <a:buNone/>
            </a:pPr>
            <a:r>
              <a:rPr lang="en-GB" sz="1900" dirty="0" smtClean="0">
                <a:latin typeface="Calisto MT" pitchFamily="18" charset="0"/>
              </a:rPr>
              <a:t>Several </a:t>
            </a:r>
            <a:r>
              <a:rPr lang="en-GB" sz="1900" dirty="0">
                <a:latin typeface="Calisto MT" pitchFamily="18" charset="0"/>
              </a:rPr>
              <a:t>products are priced above their category average – ideal for premium targeting.</a:t>
            </a:r>
          </a:p>
          <a:p>
            <a:endParaRPr lang="en-GB" sz="1900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GB" sz="1900" b="1" dirty="0">
                <a:latin typeface="Calisto MT" pitchFamily="18" charset="0"/>
              </a:rPr>
              <a:t>2. Top-Rated </a:t>
            </a:r>
            <a:r>
              <a:rPr lang="en-GB" sz="1900" b="1" dirty="0" smtClean="0">
                <a:latin typeface="Calisto MT" pitchFamily="18" charset="0"/>
              </a:rPr>
              <a:t>Categories:</a:t>
            </a:r>
          </a:p>
          <a:p>
            <a:pPr marL="109728" indent="0">
              <a:buNone/>
            </a:pPr>
            <a:r>
              <a:rPr lang="en-GB" sz="1900" dirty="0" smtClean="0">
                <a:latin typeface="Calisto MT" pitchFamily="18" charset="0"/>
              </a:rPr>
              <a:t>Home category has </a:t>
            </a:r>
            <a:r>
              <a:rPr lang="en-GB" sz="1900" dirty="0">
                <a:latin typeface="Calisto MT" pitchFamily="18" charset="0"/>
              </a:rPr>
              <a:t>the highest average product </a:t>
            </a:r>
            <a:r>
              <a:rPr lang="en-GB" sz="1900" dirty="0" smtClean="0">
                <a:latin typeface="Calisto MT" pitchFamily="18" charset="0"/>
              </a:rPr>
              <a:t>rating.</a:t>
            </a:r>
            <a:endParaRPr lang="en-GB" sz="1900" dirty="0">
              <a:latin typeface="Calisto MT" pitchFamily="18" charset="0"/>
            </a:endParaRPr>
          </a:p>
          <a:p>
            <a:endParaRPr lang="en-GB" sz="1900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GB" sz="1900" b="1" dirty="0">
                <a:latin typeface="Calisto MT" pitchFamily="18" charset="0"/>
              </a:rPr>
              <a:t>3. Most Reviewed Products by Warehouse:</a:t>
            </a:r>
          </a:p>
          <a:p>
            <a:pPr marL="109728" indent="0">
              <a:buNone/>
            </a:pPr>
            <a:r>
              <a:rPr lang="en-GB" sz="1900" dirty="0" smtClean="0">
                <a:latin typeface="Calisto MT" pitchFamily="18" charset="0"/>
              </a:rPr>
              <a:t>Several popular </a:t>
            </a:r>
            <a:r>
              <a:rPr lang="en-GB" sz="1900" dirty="0">
                <a:latin typeface="Calisto MT" pitchFamily="18" charset="0"/>
              </a:rPr>
              <a:t>products get many reviews and should be restocked quickly and used in offers or combos to boost sales.”</a:t>
            </a:r>
          </a:p>
          <a:p>
            <a:pPr marL="109728" indent="0">
              <a:buNone/>
            </a:pPr>
            <a:endParaRPr lang="en-GB" sz="2100" dirty="0">
              <a:latin typeface="Calisto MT" pitchFamily="18" charset="0"/>
            </a:endParaRPr>
          </a:p>
          <a:p>
            <a:pPr marL="109728" indent="0">
              <a:buNone/>
            </a:pPr>
            <a:endParaRPr lang="en-GB" b="1" dirty="0"/>
          </a:p>
          <a:p>
            <a:pPr marL="109728" indent="0">
              <a:buNone/>
            </a:pPr>
            <a:endParaRPr lang="en-IN" dirty="0">
              <a:latin typeface="Calisto MT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Calisto MT" pitchFamily="18" charset="0"/>
              </a:rPr>
              <a:t>Key SQL Insights (Examples)</a:t>
            </a:r>
            <a:br>
              <a:rPr lang="en-IN" dirty="0">
                <a:latin typeface="Calisto MT" pitchFamily="18" charset="0"/>
              </a:rPr>
            </a:br>
            <a:endParaRPr lang="en-IN" dirty="0">
              <a:latin typeface="Calisto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45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GB" sz="1900" b="1" dirty="0">
                <a:latin typeface="Calisto MT" pitchFamily="18" charset="0"/>
              </a:rPr>
              <a:t>4. High-Value Products with Discount:</a:t>
            </a:r>
          </a:p>
          <a:p>
            <a:pPr marL="109728" indent="0">
              <a:buNone/>
            </a:pPr>
            <a:r>
              <a:rPr lang="en-GB" sz="1900" dirty="0">
                <a:latin typeface="Calisto MT" pitchFamily="18" charset="0"/>
              </a:rPr>
              <a:t>Several high-priced products are being offered with </a:t>
            </a:r>
            <a:r>
              <a:rPr lang="en-GB" sz="1900" b="1" dirty="0">
                <a:latin typeface="Calisto MT" pitchFamily="18" charset="0"/>
              </a:rPr>
              <a:t>notable discounts</a:t>
            </a:r>
            <a:r>
              <a:rPr lang="en-GB" sz="1900" dirty="0">
                <a:latin typeface="Calisto MT" pitchFamily="18" charset="0"/>
              </a:rPr>
              <a:t>, especially in Electronics. This presents a chance to </a:t>
            </a:r>
            <a:r>
              <a:rPr lang="en-GB" sz="1900" b="1" dirty="0">
                <a:latin typeface="Calisto MT" pitchFamily="18" charset="0"/>
              </a:rPr>
              <a:t>drive sales volumes</a:t>
            </a:r>
            <a:r>
              <a:rPr lang="en-GB" sz="1900" dirty="0">
                <a:latin typeface="Calisto MT" pitchFamily="18" charset="0"/>
              </a:rPr>
              <a:t> without hurting profit margins — if timed with events or holidays</a:t>
            </a:r>
            <a:r>
              <a:rPr lang="en-GB" sz="1900" dirty="0" smtClean="0">
                <a:latin typeface="Calisto MT" pitchFamily="18" charset="0"/>
              </a:rPr>
              <a:t>.</a:t>
            </a:r>
          </a:p>
          <a:p>
            <a:pPr marL="109728" indent="0">
              <a:buNone/>
            </a:pPr>
            <a:endParaRPr lang="en-GB" sz="1900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GB" sz="1900" b="1" dirty="0">
                <a:latin typeface="Calisto MT" pitchFamily="18" charset="0"/>
              </a:rPr>
              <a:t>5. Top 2 Rated Products in Each Category:</a:t>
            </a:r>
          </a:p>
          <a:p>
            <a:pPr marL="109728" indent="0">
              <a:buNone/>
            </a:pPr>
            <a:r>
              <a:rPr lang="en-GB" sz="1900" dirty="0">
                <a:latin typeface="Calisto MT" pitchFamily="18" charset="0"/>
              </a:rPr>
              <a:t>The top two rated products in each category represent </a:t>
            </a:r>
            <a:r>
              <a:rPr lang="en-GB" sz="1900" b="1" dirty="0">
                <a:latin typeface="Calisto MT" pitchFamily="18" charset="0"/>
              </a:rPr>
              <a:t>“hero products”</a:t>
            </a:r>
            <a:r>
              <a:rPr lang="en-GB" sz="1900" dirty="0">
                <a:latin typeface="Calisto MT" pitchFamily="18" charset="0"/>
              </a:rPr>
              <a:t>. These can be highlighted in product listings, featured in ads, or used to benchmark quality for sourcing new products.</a:t>
            </a:r>
          </a:p>
          <a:p>
            <a:endParaRPr lang="en-GB" sz="1900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GB" sz="1900" b="1" dirty="0">
                <a:latin typeface="Calisto MT" pitchFamily="18" charset="0"/>
              </a:rPr>
              <a:t>6. Return Policy Insights:</a:t>
            </a:r>
          </a:p>
          <a:p>
            <a:pPr marL="109728" indent="0">
              <a:buNone/>
            </a:pPr>
            <a:r>
              <a:rPr lang="en-GB" sz="1900" dirty="0">
                <a:latin typeface="Calisto MT" pitchFamily="18" charset="0"/>
              </a:rPr>
              <a:t>Products with a </a:t>
            </a:r>
            <a:r>
              <a:rPr lang="en-GB" sz="1900" b="1" dirty="0">
                <a:latin typeface="Calisto MT" pitchFamily="18" charset="0"/>
              </a:rPr>
              <a:t>30-day return policy</a:t>
            </a:r>
            <a:r>
              <a:rPr lang="en-GB" sz="1900" dirty="0">
                <a:latin typeface="Calisto MT" pitchFamily="18" charset="0"/>
              </a:rPr>
              <a:t> had the highest stock, revenue, and ratings — indicating that </a:t>
            </a:r>
            <a:r>
              <a:rPr lang="en-GB" sz="1900" b="1" dirty="0">
                <a:latin typeface="Calisto MT" pitchFamily="18" charset="0"/>
              </a:rPr>
              <a:t>flexible return policies build customer confidence</a:t>
            </a:r>
            <a:r>
              <a:rPr lang="en-GB" sz="1900" dirty="0">
                <a:latin typeface="Calisto MT" pitchFamily="18" charset="0"/>
              </a:rPr>
              <a:t> and drive both satisfaction and sales.</a:t>
            </a:r>
          </a:p>
          <a:p>
            <a:endParaRPr lang="en-IN" sz="19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Calisto MT" pitchFamily="18" charset="0"/>
              </a:rPr>
              <a:t>Key SQL Insights (Examples)</a:t>
            </a:r>
            <a:br>
              <a:rPr lang="en-IN" sz="2800" dirty="0">
                <a:latin typeface="Calisto MT" pitchFamily="18" charset="0"/>
              </a:rPr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2126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96752"/>
            <a:ext cx="8229600" cy="4755984"/>
          </a:xfrm>
        </p:spPr>
        <p:txBody>
          <a:bodyPr>
            <a:noAutofit/>
          </a:bodyPr>
          <a:lstStyle/>
          <a:p>
            <a:pPr marL="109728" indent="0">
              <a:buNone/>
            </a:pPr>
            <a:r>
              <a:rPr lang="en-GB" sz="1900" b="1" dirty="0" smtClean="0"/>
              <a:t> </a:t>
            </a:r>
            <a:r>
              <a:rPr lang="en-GB" sz="1900" b="1" dirty="0">
                <a:latin typeface="Calisto MT" pitchFamily="18" charset="0"/>
              </a:rPr>
              <a:t>1</a:t>
            </a:r>
            <a:r>
              <a:rPr lang="en-GB" sz="1900" b="1" dirty="0" smtClean="0">
                <a:latin typeface="Calisto MT" pitchFamily="18" charset="0"/>
              </a:rPr>
              <a:t>. </a:t>
            </a:r>
            <a:r>
              <a:rPr lang="en-GB" sz="1900" b="1" dirty="0">
                <a:latin typeface="Calisto MT" pitchFamily="18" charset="0"/>
              </a:rPr>
              <a:t>Revenue </a:t>
            </a:r>
            <a:r>
              <a:rPr lang="en-GB" sz="1900" b="1" dirty="0" smtClean="0">
                <a:latin typeface="Calisto MT" pitchFamily="18" charset="0"/>
              </a:rPr>
              <a:t>vs. </a:t>
            </a:r>
            <a:r>
              <a:rPr lang="en-GB" sz="1900" b="1" dirty="0">
                <a:latin typeface="Calisto MT" pitchFamily="18" charset="0"/>
              </a:rPr>
              <a:t>Stock</a:t>
            </a:r>
          </a:p>
          <a:p>
            <a:pPr marL="109728" indent="0">
              <a:buNone/>
            </a:pPr>
            <a:r>
              <a:rPr lang="en-GB" sz="1900" b="1" dirty="0">
                <a:latin typeface="Calisto MT" pitchFamily="18" charset="0"/>
              </a:rPr>
              <a:t>Insight:</a:t>
            </a:r>
            <a:endParaRPr lang="en-GB" sz="1900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GB" sz="1900" dirty="0" smtClean="0">
                <a:latin typeface="Calisto MT" pitchFamily="18" charset="0"/>
              </a:rPr>
              <a:t>Electronics </a:t>
            </a:r>
            <a:r>
              <a:rPr lang="en-GB" sz="1900" dirty="0">
                <a:latin typeface="Calisto MT" pitchFamily="18" charset="0"/>
              </a:rPr>
              <a:t>generates the </a:t>
            </a:r>
            <a:r>
              <a:rPr lang="en-GB" sz="1900" dirty="0" smtClean="0">
                <a:latin typeface="Calisto MT" pitchFamily="18" charset="0"/>
              </a:rPr>
              <a:t>high revenue </a:t>
            </a:r>
            <a:r>
              <a:rPr lang="en-GB" sz="1900" dirty="0">
                <a:latin typeface="Calisto MT" pitchFamily="18" charset="0"/>
              </a:rPr>
              <a:t>despite having lower stock compared to other categories — indicating strong demand and fast turnover</a:t>
            </a:r>
            <a:r>
              <a:rPr lang="en-GB" sz="1900" dirty="0" smtClean="0">
                <a:latin typeface="Calisto MT" pitchFamily="18" charset="0"/>
              </a:rPr>
              <a:t>.</a:t>
            </a:r>
            <a:endParaRPr lang="en-GB" sz="1900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GB" sz="1900" b="1" dirty="0" smtClean="0">
                <a:latin typeface="Calisto MT" pitchFamily="18" charset="0"/>
              </a:rPr>
              <a:t> </a:t>
            </a:r>
            <a:r>
              <a:rPr lang="en-GB" sz="1900" b="1" dirty="0">
                <a:latin typeface="Calisto MT" pitchFamily="18" charset="0"/>
              </a:rPr>
              <a:t>2. Price </a:t>
            </a:r>
            <a:r>
              <a:rPr lang="en-GB" sz="1900" b="1" dirty="0" smtClean="0">
                <a:latin typeface="Calisto MT" pitchFamily="18" charset="0"/>
              </a:rPr>
              <a:t>vs. </a:t>
            </a:r>
            <a:r>
              <a:rPr lang="en-GB" sz="1900" b="1" dirty="0">
                <a:latin typeface="Calisto MT" pitchFamily="18" charset="0"/>
              </a:rPr>
              <a:t>Rating </a:t>
            </a:r>
          </a:p>
          <a:p>
            <a:pPr marL="109728" indent="0">
              <a:buNone/>
            </a:pPr>
            <a:r>
              <a:rPr lang="en-GB" sz="1900" b="1" dirty="0">
                <a:latin typeface="Calisto MT" pitchFamily="18" charset="0"/>
              </a:rPr>
              <a:t>Insight:</a:t>
            </a:r>
            <a:endParaRPr lang="en-GB" sz="1900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GB" sz="1900" dirty="0" smtClean="0">
                <a:latin typeface="Calisto MT" pitchFamily="18" charset="0"/>
              </a:rPr>
              <a:t>There </a:t>
            </a:r>
            <a:r>
              <a:rPr lang="en-GB" sz="1900" dirty="0">
                <a:latin typeface="Calisto MT" pitchFamily="18" charset="0"/>
              </a:rPr>
              <a:t>is no strong correlation between price and rating — indicating that customer satisfaction is not dependent on price</a:t>
            </a:r>
            <a:r>
              <a:rPr lang="en-GB" sz="1900" dirty="0" smtClean="0">
                <a:latin typeface="Calisto MT" pitchFamily="18" charset="0"/>
              </a:rPr>
              <a:t>.</a:t>
            </a:r>
            <a:endParaRPr lang="en-GB" sz="1900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GB" sz="1900" b="1" dirty="0" smtClean="0">
                <a:latin typeface="Calisto MT" pitchFamily="18" charset="0"/>
              </a:rPr>
              <a:t> </a:t>
            </a:r>
            <a:r>
              <a:rPr lang="en-GB" sz="1900" b="1" dirty="0">
                <a:latin typeface="Calisto MT" pitchFamily="18" charset="0"/>
              </a:rPr>
              <a:t>3. Products with 30-Day Return Policy per Warehouse</a:t>
            </a:r>
          </a:p>
          <a:p>
            <a:pPr marL="109728" indent="0">
              <a:buNone/>
            </a:pPr>
            <a:r>
              <a:rPr lang="en-GB" sz="1900" b="1" dirty="0">
                <a:latin typeface="Calisto MT" pitchFamily="18" charset="0"/>
              </a:rPr>
              <a:t>Insight:</a:t>
            </a:r>
            <a:endParaRPr lang="en-GB" sz="1900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GB" sz="1900" dirty="0" smtClean="0">
                <a:latin typeface="Calisto MT" pitchFamily="18" charset="0"/>
              </a:rPr>
              <a:t>Warehouse </a:t>
            </a:r>
            <a:r>
              <a:rPr lang="en-GB" sz="1900" dirty="0">
                <a:latin typeface="Calisto MT" pitchFamily="18" charset="0"/>
              </a:rPr>
              <a:t>B stocks the highest number of products with a 30-day return policy — potentially offering better flexibility for customers in that region</a:t>
            </a:r>
            <a:r>
              <a:rPr lang="en-GB" sz="1900" dirty="0" smtClean="0">
                <a:latin typeface="Calisto MT" pitchFamily="18" charset="0"/>
              </a:rPr>
              <a:t>.</a:t>
            </a:r>
            <a:endParaRPr lang="en-GB" sz="1900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GB" sz="1900" b="1" dirty="0" smtClean="0">
                <a:latin typeface="Calisto MT" pitchFamily="18" charset="0"/>
              </a:rPr>
              <a:t> </a:t>
            </a:r>
            <a:endParaRPr lang="en-GB" sz="1900" dirty="0">
              <a:latin typeface="Calisto MT" pitchFamily="18" charset="0"/>
            </a:endParaRPr>
          </a:p>
          <a:p>
            <a:endParaRPr lang="en-IN" sz="1900" b="0" dirty="0">
              <a:latin typeface="Calisto MT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 dirty="0">
                <a:latin typeface="Calisto MT" pitchFamily="18" charset="0"/>
              </a:rPr>
              <a:t>Key Visual Insights </a:t>
            </a:r>
            <a:r>
              <a:rPr lang="en-GB" sz="2800" dirty="0" smtClean="0">
                <a:latin typeface="Calisto MT" pitchFamily="18" charset="0"/>
              </a:rPr>
              <a:t>(Tableau</a:t>
            </a:r>
            <a:r>
              <a:rPr lang="en-GB" sz="2800" dirty="0">
                <a:latin typeface="Calisto MT" pitchFamily="18" charset="0"/>
              </a:rPr>
              <a:t>)</a:t>
            </a:r>
            <a:br>
              <a:rPr lang="en-GB" sz="2800" dirty="0">
                <a:latin typeface="Calisto MT" pitchFamily="18" charset="0"/>
              </a:rPr>
            </a:br>
            <a:endParaRPr lang="en-IN" sz="2800" dirty="0">
              <a:latin typeface="Calisto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41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109728" indent="0">
              <a:buNone/>
            </a:pPr>
            <a:r>
              <a:rPr lang="en-GB" sz="3100" b="1" dirty="0">
                <a:latin typeface="Calisto MT" pitchFamily="18" charset="0"/>
              </a:rPr>
              <a:t>4. Rating </a:t>
            </a:r>
            <a:r>
              <a:rPr lang="en-GB" sz="3100" b="1" dirty="0" smtClean="0">
                <a:latin typeface="Calisto MT" pitchFamily="18" charset="0"/>
              </a:rPr>
              <a:t>vs. </a:t>
            </a:r>
            <a:r>
              <a:rPr lang="en-GB" sz="3100" b="1" dirty="0">
                <a:latin typeface="Calisto MT" pitchFamily="18" charset="0"/>
              </a:rPr>
              <a:t>Review Count </a:t>
            </a:r>
          </a:p>
          <a:p>
            <a:pPr marL="109728" indent="0">
              <a:buNone/>
            </a:pPr>
            <a:r>
              <a:rPr lang="en-GB" sz="3100" b="1" dirty="0">
                <a:latin typeface="Calisto MT" pitchFamily="18" charset="0"/>
              </a:rPr>
              <a:t>Insight</a:t>
            </a:r>
            <a:r>
              <a:rPr lang="en-GB" sz="3100" b="1" dirty="0" smtClean="0">
                <a:latin typeface="Calisto MT" pitchFamily="18" charset="0"/>
              </a:rPr>
              <a:t>:</a:t>
            </a:r>
          </a:p>
          <a:p>
            <a:pPr marL="109728" indent="0">
              <a:buNone/>
            </a:pPr>
            <a:r>
              <a:rPr lang="en-GB" sz="3000" dirty="0" smtClean="0">
                <a:latin typeface="Calisto MT" pitchFamily="18" charset="0"/>
              </a:rPr>
              <a:t>Few low-rated </a:t>
            </a:r>
            <a:r>
              <a:rPr lang="en-GB" sz="3000" dirty="0">
                <a:latin typeface="Calisto MT" pitchFamily="18" charset="0"/>
              </a:rPr>
              <a:t>products with high review counts reflect strong engagement but poor customer satisfaction</a:t>
            </a:r>
            <a:r>
              <a:rPr lang="en-GB" sz="3000" dirty="0" smtClean="0">
                <a:latin typeface="Calisto MT" pitchFamily="18" charset="0"/>
              </a:rPr>
              <a:t>.</a:t>
            </a:r>
            <a:r>
              <a:rPr lang="en-GB" sz="3000" dirty="0">
                <a:latin typeface="Calisto MT" pitchFamily="18" charset="0"/>
              </a:rPr>
              <a:t> Highly rated products mostly fall in the moderate review count range</a:t>
            </a:r>
          </a:p>
          <a:p>
            <a:pPr marL="109728" indent="0">
              <a:buNone/>
            </a:pPr>
            <a:endParaRPr lang="en-GB" sz="3100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GB" sz="3100" b="1" dirty="0" smtClean="0">
                <a:latin typeface="Calisto MT" pitchFamily="18" charset="0"/>
              </a:rPr>
              <a:t>5. Warehouse-wise </a:t>
            </a:r>
            <a:r>
              <a:rPr lang="en-GB" sz="3100" b="1" dirty="0">
                <a:latin typeface="Calisto MT" pitchFamily="18" charset="0"/>
              </a:rPr>
              <a:t>Product Turnover</a:t>
            </a:r>
          </a:p>
          <a:p>
            <a:pPr marL="109728" indent="0">
              <a:buNone/>
            </a:pPr>
            <a:r>
              <a:rPr lang="en-GB" sz="3100" b="1" dirty="0">
                <a:latin typeface="Calisto MT" pitchFamily="18" charset="0"/>
              </a:rPr>
              <a:t>Insight:</a:t>
            </a:r>
            <a:endParaRPr lang="en-GB" sz="3100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GB" sz="3100" dirty="0" smtClean="0">
                <a:latin typeface="Calisto MT" pitchFamily="18" charset="0"/>
              </a:rPr>
              <a:t>Warehouse C </a:t>
            </a:r>
            <a:r>
              <a:rPr lang="en-GB" sz="3100" dirty="0">
                <a:latin typeface="Calisto MT" pitchFamily="18" charset="0"/>
              </a:rPr>
              <a:t>has the highest product turnover, indicating the most active sales channel. This could require faster inventory replenishment strategies</a:t>
            </a:r>
            <a:r>
              <a:rPr lang="en-GB" sz="3100" dirty="0" smtClean="0">
                <a:latin typeface="Calisto MT" pitchFamily="18" charset="0"/>
              </a:rPr>
              <a:t>.</a:t>
            </a:r>
          </a:p>
          <a:p>
            <a:pPr marL="109728" indent="0">
              <a:buNone/>
            </a:pPr>
            <a:endParaRPr lang="en-GB" sz="3100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GB" sz="3100" b="1" dirty="0" smtClean="0">
                <a:latin typeface="Calisto MT" pitchFamily="18" charset="0"/>
              </a:rPr>
              <a:t> </a:t>
            </a:r>
            <a:r>
              <a:rPr lang="en-GB" sz="3100" b="1" dirty="0">
                <a:latin typeface="Calisto MT" pitchFamily="18" charset="0"/>
              </a:rPr>
              <a:t>6. Return Policy </a:t>
            </a:r>
            <a:r>
              <a:rPr lang="en-GB" sz="3100" b="1" dirty="0" smtClean="0">
                <a:latin typeface="Calisto MT" pitchFamily="18" charset="0"/>
              </a:rPr>
              <a:t>vs. Warehouse </a:t>
            </a:r>
            <a:r>
              <a:rPr lang="en-GB" sz="3100" b="1" dirty="0">
                <a:latin typeface="Calisto MT" pitchFamily="18" charset="0"/>
              </a:rPr>
              <a:t>– Revenue Matrix</a:t>
            </a:r>
          </a:p>
          <a:p>
            <a:pPr marL="109728" indent="0">
              <a:buNone/>
            </a:pPr>
            <a:r>
              <a:rPr lang="en-GB" sz="3100" b="1" dirty="0">
                <a:latin typeface="Calisto MT" pitchFamily="18" charset="0"/>
              </a:rPr>
              <a:t>Insight:</a:t>
            </a:r>
            <a:endParaRPr lang="en-GB" sz="3100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GB" sz="3100" dirty="0" smtClean="0">
                <a:latin typeface="Calisto MT" pitchFamily="18" charset="0"/>
              </a:rPr>
              <a:t>7-Day </a:t>
            </a:r>
            <a:r>
              <a:rPr lang="en-GB" sz="3100" dirty="0">
                <a:latin typeface="Calisto MT" pitchFamily="18" charset="0"/>
              </a:rPr>
              <a:t>return products generate the most revenue across </a:t>
            </a:r>
            <a:r>
              <a:rPr lang="en-GB" sz="3100" dirty="0" smtClean="0">
                <a:latin typeface="Calisto MT" pitchFamily="18" charset="0"/>
              </a:rPr>
              <a:t>warehouse C and then 30- Day return products again in warehouse C indicating flexible </a:t>
            </a:r>
            <a:r>
              <a:rPr lang="en-GB" sz="3100" dirty="0">
                <a:latin typeface="Calisto MT" pitchFamily="18" charset="0"/>
              </a:rPr>
              <a:t>return options </a:t>
            </a:r>
            <a:r>
              <a:rPr lang="en-GB" sz="3100" dirty="0" smtClean="0">
                <a:latin typeface="Calisto MT" pitchFamily="18" charset="0"/>
              </a:rPr>
              <a:t>driving </a:t>
            </a:r>
            <a:r>
              <a:rPr lang="en-GB" sz="3100" dirty="0">
                <a:latin typeface="Calisto MT" pitchFamily="18" charset="0"/>
              </a:rPr>
              <a:t>customer purchases</a:t>
            </a:r>
            <a:r>
              <a:rPr lang="en-GB" sz="3100" dirty="0" smtClean="0">
                <a:latin typeface="Calisto MT" pitchFamily="18" charset="0"/>
              </a:rPr>
              <a:t>.</a:t>
            </a:r>
            <a:endParaRPr lang="en-GB" sz="3100" dirty="0">
              <a:latin typeface="Calisto MT" pitchFamily="18" charset="0"/>
            </a:endParaRPr>
          </a:p>
          <a:p>
            <a:pPr marL="109728" indent="0">
              <a:buNone/>
            </a:pPr>
            <a:endParaRPr lang="en-GB" sz="2800" b="1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 smtClean="0">
                <a:latin typeface="Calisto MT" pitchFamily="18" charset="0"/>
              </a:rPr>
              <a:t>Key Visual Insights(Tableau)</a:t>
            </a:r>
            <a:endParaRPr lang="en-IN" sz="2800" dirty="0">
              <a:latin typeface="Calisto MT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76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109728" indent="0">
              <a:buNone/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  <a:t>Business Operations:</a:t>
            </a:r>
          </a:p>
          <a:p>
            <a:endParaRPr lang="en" dirty="0">
              <a:latin typeface="Calisto MT" pitchFamily="18" charset="0"/>
            </a:endParaRPr>
          </a:p>
          <a:p>
            <a:r>
              <a:rPr lang="en-GB" dirty="0">
                <a:latin typeface="Calisto MT" pitchFamily="18" charset="0"/>
              </a:rPr>
              <a:t>Optimize stock levels for high-revenue, low-stock categories to prevent lost sales.</a:t>
            </a:r>
          </a:p>
          <a:p>
            <a:r>
              <a:rPr lang="en-GB" dirty="0" smtClean="0">
                <a:latin typeface="Calisto MT" pitchFamily="18" charset="0"/>
              </a:rPr>
              <a:t>Review </a:t>
            </a:r>
            <a:r>
              <a:rPr lang="en-GB" dirty="0">
                <a:latin typeface="Calisto MT" pitchFamily="18" charset="0"/>
              </a:rPr>
              <a:t>pricing strategies for high-priced, low-rated products</a:t>
            </a:r>
            <a:r>
              <a:rPr lang="en-GB" dirty="0" smtClean="0">
                <a:latin typeface="Calisto MT" pitchFamily="18" charset="0"/>
              </a:rPr>
              <a:t>.</a:t>
            </a:r>
          </a:p>
          <a:p>
            <a:r>
              <a:rPr lang="en-GB" dirty="0" smtClean="0">
                <a:latin typeface="Calisto MT" pitchFamily="18" charset="0"/>
              </a:rPr>
              <a:t>Promote top- rated products with fewer reviews.</a:t>
            </a:r>
            <a:endParaRPr lang="en-GB" dirty="0">
              <a:latin typeface="Calisto MT" pitchFamily="18" charset="0"/>
            </a:endParaRPr>
          </a:p>
          <a:p>
            <a:endParaRPr lang="en" dirty="0">
              <a:latin typeface="Calisto MT" pitchFamily="18" charset="0"/>
            </a:endParaRPr>
          </a:p>
          <a:p>
            <a:pPr marL="109728" indent="0">
              <a:buNone/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  <a:t>Customer Satisfaction:</a:t>
            </a:r>
          </a:p>
          <a:p>
            <a:endParaRPr lang="en" dirty="0">
              <a:latin typeface="Calisto MT" pitchFamily="18" charset="0"/>
            </a:endParaRPr>
          </a:p>
          <a:p>
            <a:r>
              <a:rPr lang="en-GB" dirty="0">
                <a:latin typeface="Calisto MT" pitchFamily="18" charset="0"/>
              </a:rPr>
              <a:t>Leverage insights from highly-rated and reviewed products for cross-promotion or product improvement</a:t>
            </a:r>
            <a:r>
              <a:rPr lang="en-GB" dirty="0" smtClean="0">
                <a:latin typeface="Calisto MT" pitchFamily="18" charset="0"/>
              </a:rPr>
              <a:t>.</a:t>
            </a:r>
            <a:endParaRPr lang="en" dirty="0">
              <a:latin typeface="Calisto MT" pitchFamily="18" charset="0"/>
            </a:endParaRPr>
          </a:p>
          <a:p>
            <a:r>
              <a:rPr lang="en-GB" dirty="0">
                <a:latin typeface="Calisto MT" pitchFamily="18" charset="0"/>
              </a:rPr>
              <a:t>Address issues for products with many reviews but low ratings.</a:t>
            </a:r>
          </a:p>
          <a:p>
            <a:endParaRPr lang="en" dirty="0">
              <a:latin typeface="Calisto MT" pitchFamily="18" charset="0"/>
            </a:endParaRPr>
          </a:p>
          <a:p>
            <a:endParaRPr lang="en-IN" dirty="0">
              <a:latin typeface="Calisto MT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Calisto MT" pitchFamily="18" charset="0"/>
              </a:rPr>
              <a:t>Recommendations &amp; Next Steps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56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-2628800" y="1600200"/>
            <a:ext cx="10858400" cy="4525963"/>
          </a:xfrm>
        </p:spPr>
        <p:txBody>
          <a:bodyPr/>
          <a:lstStyle/>
          <a:p>
            <a:pPr marL="0" indent="0">
              <a:buNone/>
            </a:pPr>
            <a:r>
              <a:rPr lang="en-IN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  <a:t>                             "</a:t>
            </a:r>
            <a:r>
              <a:rPr lang="en-I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  <a:t>THANK YOU !!!!" </a:t>
            </a:r>
          </a:p>
          <a:p>
            <a:pPr marL="0" indent="0">
              <a:buNone/>
            </a:pPr>
            <a:endParaRPr lang="en-IN" dirty="0"/>
          </a:p>
          <a:p>
            <a:endParaRPr lang="en" dirty="0"/>
          </a:p>
          <a:p>
            <a:pPr marL="0" indent="0" algn="ctr">
              <a:buNone/>
            </a:pPr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  <a:t>                                 “Any Questions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itchFamily="18" charset="0"/>
              </a:rPr>
              <a:t>?"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8135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5154</TotalTime>
  <Words>603</Words>
  <Application>Microsoft Office PowerPoint</Application>
  <PresentationFormat>On-screen Show (4:3)</PresentationFormat>
  <Paragraphs>78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Concourse</vt:lpstr>
      <vt:lpstr>    DATA ANALYTIC PROJECT </vt:lpstr>
      <vt:lpstr>PowerPoint Presentation</vt:lpstr>
      <vt:lpstr>PowerPoint Presentation</vt:lpstr>
      <vt:lpstr>Data Layout</vt:lpstr>
      <vt:lpstr>Key SQL Insights (Examples) </vt:lpstr>
      <vt:lpstr>Key SQL Insights (Examples) </vt:lpstr>
      <vt:lpstr>Key Visual Insights (Tableau) </vt:lpstr>
      <vt:lpstr>Key Visual Insights(Tableau)</vt:lpstr>
      <vt:lpstr>Recommendations &amp; Next Steps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ANALYTIC PROJECT </dc:title>
  <dc:creator>Neelima Joshi</dc:creator>
  <cp:lastModifiedBy>Neelima Joshi</cp:lastModifiedBy>
  <cp:revision>33</cp:revision>
  <dcterms:created xsi:type="dcterms:W3CDTF">2025-08-01T16:03:01Z</dcterms:created>
  <dcterms:modified xsi:type="dcterms:W3CDTF">2025-08-29T05:08:57Z</dcterms:modified>
</cp:coreProperties>
</file>